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p:regular r:id="rId24"/>
      <p:bold r:id="rId25"/>
      <p:italic r:id="rId26"/>
      <p:boldItalic r:id="rId27"/>
    </p:embeddedFont>
    <p:embeddedFont>
      <p:font typeface="Lexen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Lexend-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exend-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ad34fe4f1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2ad34fe4f1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2ad34fe4f1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2ad34fe4f1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2ad34fe4f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2ad34fe4f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2ad34fe4f1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2ad34fe4f1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2ad34fe4f1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2ad34fe4f1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ad34fe4f1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2ad34fe4f1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ad34fe4f1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2ad34fe4f1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2ad34fe4f1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2ad34fe4f1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2ad34fe4f1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2ad34fe4f1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ad34fe4f1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ad34fe4f1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ad34fe4f1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2ad34fe4f1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ad34fe4f1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ad34fe4f1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ad34fe4f1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2ad34fe4f1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2ad34fe4f1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2ad34fe4f1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2ad34fe4f1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2ad34fe4f1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2ad34fe4f1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2ad34fe4f1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2ad34fe4f1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2ad34fe4f1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9.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460950" y="1223302"/>
            <a:ext cx="8222100" cy="141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GB" sz="2860">
                <a:latin typeface="Lexend"/>
                <a:ea typeface="Lexend"/>
                <a:cs typeface="Lexend"/>
                <a:sym typeface="Lexend"/>
              </a:rPr>
              <a:t>Optimizing Heat 3D Algorithm using DOACROSS parallelism in OpenMP and other parallelism methods</a:t>
            </a:r>
            <a:endParaRPr sz="2680">
              <a:latin typeface="Lexend"/>
              <a:ea typeface="Lexend"/>
              <a:cs typeface="Lexend"/>
              <a:sym typeface="Lexend"/>
            </a:endParaRPr>
          </a:p>
        </p:txBody>
      </p:sp>
      <p:sp>
        <p:nvSpPr>
          <p:cNvPr id="86" name="Google Shape;86;p13"/>
          <p:cNvSpPr txBox="1"/>
          <p:nvPr>
            <p:ph idx="1" type="subTitle"/>
          </p:nvPr>
        </p:nvSpPr>
        <p:spPr>
          <a:xfrm>
            <a:off x="46093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latin typeface="Lexend"/>
                <a:ea typeface="Lexend"/>
                <a:cs typeface="Lexend"/>
                <a:sym typeface="Lexend"/>
              </a:rPr>
              <a:t>CSC-201 Project</a:t>
            </a:r>
            <a:endParaRPr>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Introduction</a:t>
            </a:r>
            <a:endParaRPr>
              <a:latin typeface="Lexend"/>
              <a:ea typeface="Lexend"/>
              <a:cs typeface="Lexend"/>
              <a:sym typeface="Lexend"/>
            </a:endParaRPr>
          </a:p>
        </p:txBody>
      </p:sp>
      <p:sp>
        <p:nvSpPr>
          <p:cNvPr id="92" name="Google Shape;92;p14"/>
          <p:cNvSpPr txBox="1"/>
          <p:nvPr/>
        </p:nvSpPr>
        <p:spPr>
          <a:xfrm>
            <a:off x="311700" y="1127075"/>
            <a:ext cx="8520600" cy="35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Lexend"/>
                <a:ea typeface="Lexend"/>
                <a:cs typeface="Lexend"/>
                <a:sym typeface="Lexend"/>
              </a:rPr>
              <a:t>The Heat3D equation is a mathematical representation used to compute the numerical solution of the three-dimensional heat equation, a partial differential equation that describes the distribution of temperature in a given region over time. This equation often arises in physics, engineering, and numerical simulations. Using finite difference methods, the continuous domain is discretized into a 3D grid of points, and the partial derivatives are approximated using difference formulas.</a:t>
            </a:r>
            <a:endParaRPr sz="1500">
              <a:latin typeface="Lexend"/>
              <a:ea typeface="Lexend"/>
              <a:cs typeface="Lexend"/>
              <a:sym typeface="Lexend"/>
            </a:endParaRPr>
          </a:p>
          <a:p>
            <a:pPr indent="0" lvl="0" marL="0" rtl="0" algn="l">
              <a:spcBef>
                <a:spcPts val="0"/>
              </a:spcBef>
              <a:spcAft>
                <a:spcPts val="0"/>
              </a:spcAft>
              <a:buNone/>
            </a:pPr>
            <a:r>
              <a:t/>
            </a:r>
            <a:endParaRPr sz="1500">
              <a:latin typeface="Lexend"/>
              <a:ea typeface="Lexend"/>
              <a:cs typeface="Lexend"/>
              <a:sym typeface="Lexend"/>
            </a:endParaRPr>
          </a:p>
          <a:p>
            <a:pPr indent="0" lvl="0" marL="0" rtl="0" algn="l">
              <a:spcBef>
                <a:spcPts val="0"/>
              </a:spcBef>
              <a:spcAft>
                <a:spcPts val="0"/>
              </a:spcAft>
              <a:buNone/>
            </a:pPr>
            <a:r>
              <a:rPr lang="en-GB" sz="1500">
                <a:latin typeface="Lexend"/>
                <a:ea typeface="Lexend"/>
                <a:cs typeface="Lexend"/>
                <a:sym typeface="Lexend"/>
              </a:rPr>
              <a:t>Solving the 3D heat equation presents several challenges, particularly in computational and practical contexts. These challenges arise from the equation's complexity, the need for numerical stability, and the high computational demands of 3D simulations.</a:t>
            </a:r>
            <a:endParaRPr sz="1500">
              <a:latin typeface="Lexend"/>
              <a:ea typeface="Lexend"/>
              <a:cs typeface="Lexend"/>
              <a:sym typeface="Lexend"/>
            </a:endParaRPr>
          </a:p>
          <a:p>
            <a:pPr indent="0" lvl="0" marL="0" rtl="0" algn="l">
              <a:spcBef>
                <a:spcPts val="0"/>
              </a:spcBef>
              <a:spcAft>
                <a:spcPts val="0"/>
              </a:spcAft>
              <a:buNone/>
            </a:pPr>
            <a:r>
              <a:t/>
            </a:r>
            <a:endParaRPr sz="1600">
              <a:solidFill>
                <a:schemeClr val="dk2"/>
              </a:solidFill>
              <a:latin typeface="Comic Sans MS"/>
              <a:ea typeface="Comic Sans MS"/>
              <a:cs typeface="Comic Sans MS"/>
              <a:sym typeface="Comic Sans MS"/>
            </a:endParaRPr>
          </a:p>
          <a:p>
            <a:pPr indent="0" lvl="0" marL="0" rtl="0" algn="l">
              <a:spcBef>
                <a:spcPts val="0"/>
              </a:spcBef>
              <a:spcAft>
                <a:spcPts val="0"/>
              </a:spcAft>
              <a:buNone/>
            </a:pPr>
            <a:r>
              <a:t/>
            </a:r>
            <a:endParaRPr sz="1600">
              <a:solidFill>
                <a:schemeClr val="dk2"/>
              </a:solidFill>
              <a:latin typeface="Comic Sans MS"/>
              <a:ea typeface="Comic Sans MS"/>
              <a:cs typeface="Comic Sans MS"/>
              <a:sym typeface="Comic Sans MS"/>
            </a:endParaRPr>
          </a:p>
          <a:p>
            <a:pPr indent="0" lvl="0" marL="0" rtl="0" algn="l">
              <a:spcBef>
                <a:spcPts val="0"/>
              </a:spcBef>
              <a:spcAft>
                <a:spcPts val="0"/>
              </a:spcAft>
              <a:buNone/>
            </a:pPr>
            <a:r>
              <a:t/>
            </a:r>
            <a:endParaRPr sz="1600">
              <a:solidFill>
                <a:schemeClr val="dk2"/>
              </a:solidFill>
              <a:latin typeface="Comic Sans MS"/>
              <a:ea typeface="Comic Sans MS"/>
              <a:cs typeface="Comic Sans MS"/>
              <a:sym typeface="Comic Sans MS"/>
            </a:endParaRPr>
          </a:p>
          <a:p>
            <a:pPr indent="0" lvl="0" marL="0" rtl="0" algn="l">
              <a:spcBef>
                <a:spcPts val="0"/>
              </a:spcBef>
              <a:spcAft>
                <a:spcPts val="0"/>
              </a:spcAft>
              <a:buNone/>
            </a:pPr>
            <a:r>
              <a:t/>
            </a:r>
            <a:endParaRPr sz="1600">
              <a:solidFill>
                <a:schemeClr val="dk2"/>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Heat 3D Equation</a:t>
            </a:r>
            <a:endParaRPr>
              <a:latin typeface="Lexend"/>
              <a:ea typeface="Lexend"/>
              <a:cs typeface="Lexend"/>
              <a:sym typeface="Lexend"/>
            </a:endParaRPr>
          </a:p>
        </p:txBody>
      </p:sp>
      <p:sp>
        <p:nvSpPr>
          <p:cNvPr id="98" name="Google Shape;98;p15"/>
          <p:cNvSpPr txBox="1"/>
          <p:nvPr/>
        </p:nvSpPr>
        <p:spPr>
          <a:xfrm>
            <a:off x="311700" y="1017800"/>
            <a:ext cx="8520600" cy="372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Lexend"/>
                <a:ea typeface="Lexend"/>
                <a:cs typeface="Lexend"/>
                <a:sym typeface="Lexend"/>
              </a:rPr>
              <a:t>The heat 3D equation is:</a:t>
            </a:r>
            <a:endParaRPr sz="1500">
              <a:latin typeface="Lexend"/>
              <a:ea typeface="Lexend"/>
              <a:cs typeface="Lexend"/>
              <a:sym typeface="Lexend"/>
            </a:endParaRPr>
          </a:p>
          <a:p>
            <a:pPr indent="0" lvl="0" marL="0" rtl="0" algn="l">
              <a:spcBef>
                <a:spcPts val="0"/>
              </a:spcBef>
              <a:spcAft>
                <a:spcPts val="0"/>
              </a:spcAft>
              <a:buNone/>
            </a:pPr>
            <a:r>
              <a:t/>
            </a:r>
            <a:endParaRPr sz="1500">
              <a:latin typeface="Roboto"/>
              <a:ea typeface="Roboto"/>
              <a:cs typeface="Roboto"/>
              <a:sym typeface="Roboto"/>
            </a:endParaRPr>
          </a:p>
          <a:p>
            <a:pPr indent="0" lvl="0" marL="0" rtl="0" algn="l">
              <a:spcBef>
                <a:spcPts val="0"/>
              </a:spcBef>
              <a:spcAft>
                <a:spcPts val="0"/>
              </a:spcAft>
              <a:buNone/>
            </a:pPr>
            <a:r>
              <a:t/>
            </a:r>
            <a:endParaRPr sz="1500">
              <a:latin typeface="Roboto"/>
              <a:ea typeface="Roboto"/>
              <a:cs typeface="Roboto"/>
              <a:sym typeface="Roboto"/>
            </a:endParaRPr>
          </a:p>
          <a:p>
            <a:pPr indent="0" lvl="0" marL="0" rtl="0" algn="l">
              <a:spcBef>
                <a:spcPts val="0"/>
              </a:spcBef>
              <a:spcAft>
                <a:spcPts val="0"/>
              </a:spcAft>
              <a:buNone/>
            </a:pPr>
            <a:r>
              <a:t/>
            </a:r>
            <a:endParaRPr sz="1500">
              <a:latin typeface="Roboto"/>
              <a:ea typeface="Roboto"/>
              <a:cs typeface="Roboto"/>
              <a:sym typeface="Roboto"/>
            </a:endParaRPr>
          </a:p>
          <a:p>
            <a:pPr indent="0" lvl="0" marL="0" rtl="0" algn="l">
              <a:spcBef>
                <a:spcPts val="0"/>
              </a:spcBef>
              <a:spcAft>
                <a:spcPts val="0"/>
              </a:spcAft>
              <a:buNone/>
            </a:pPr>
            <a:r>
              <a:t/>
            </a:r>
            <a:endParaRPr sz="1500">
              <a:latin typeface="Roboto"/>
              <a:ea typeface="Roboto"/>
              <a:cs typeface="Roboto"/>
              <a:sym typeface="Roboto"/>
            </a:endParaRPr>
          </a:p>
          <a:p>
            <a:pPr indent="0" lvl="0" marL="0" rtl="0" algn="l">
              <a:spcBef>
                <a:spcPts val="0"/>
              </a:spcBef>
              <a:spcAft>
                <a:spcPts val="0"/>
              </a:spcAft>
              <a:buNone/>
            </a:pPr>
            <a:r>
              <a:t/>
            </a:r>
            <a:endParaRPr sz="1500">
              <a:latin typeface="Roboto"/>
              <a:ea typeface="Roboto"/>
              <a:cs typeface="Roboto"/>
              <a:sym typeface="Roboto"/>
            </a:endParaRPr>
          </a:p>
          <a:p>
            <a:pPr indent="0" lvl="0" marL="0" rtl="0" algn="l">
              <a:spcBef>
                <a:spcPts val="0"/>
              </a:spcBef>
              <a:spcAft>
                <a:spcPts val="0"/>
              </a:spcAft>
              <a:buNone/>
            </a:pPr>
            <a:r>
              <a:t/>
            </a:r>
            <a:endParaRPr sz="1500">
              <a:latin typeface="Roboto"/>
              <a:ea typeface="Roboto"/>
              <a:cs typeface="Roboto"/>
              <a:sym typeface="Roboto"/>
            </a:endParaRPr>
          </a:p>
          <a:p>
            <a:pPr indent="0" lvl="0" marL="0" rtl="0" algn="l">
              <a:spcBef>
                <a:spcPts val="0"/>
              </a:spcBef>
              <a:spcAft>
                <a:spcPts val="0"/>
              </a:spcAft>
              <a:buNone/>
            </a:pPr>
            <a:r>
              <a:t/>
            </a:r>
            <a:endParaRPr sz="1500">
              <a:latin typeface="Roboto"/>
              <a:ea typeface="Roboto"/>
              <a:cs typeface="Roboto"/>
              <a:sym typeface="Roboto"/>
            </a:endParaRPr>
          </a:p>
          <a:p>
            <a:pPr indent="0" lvl="0" marL="0" rtl="0" algn="l">
              <a:spcBef>
                <a:spcPts val="0"/>
              </a:spcBef>
              <a:spcAft>
                <a:spcPts val="0"/>
              </a:spcAft>
              <a:buNone/>
            </a:pPr>
            <a:r>
              <a:rPr lang="en-GB" sz="1500">
                <a:latin typeface="Lexend"/>
                <a:ea typeface="Lexend"/>
                <a:cs typeface="Lexend"/>
                <a:sym typeface="Lexend"/>
              </a:rPr>
              <a:t>where </a:t>
            </a:r>
            <a:r>
              <a:rPr i="1" lang="en-GB" sz="1500">
                <a:latin typeface="Roboto"/>
                <a:ea typeface="Roboto"/>
                <a:cs typeface="Roboto"/>
                <a:sym typeface="Roboto"/>
              </a:rPr>
              <a:t>T[t][i][j][k]</a:t>
            </a:r>
            <a:r>
              <a:rPr lang="en-GB" sz="1500">
                <a:latin typeface="Comic Sans MS"/>
                <a:ea typeface="Comic Sans MS"/>
                <a:cs typeface="Comic Sans MS"/>
                <a:sym typeface="Comic Sans MS"/>
              </a:rPr>
              <a:t> </a:t>
            </a:r>
            <a:r>
              <a:rPr lang="en-GB" sz="1500">
                <a:latin typeface="Lexend"/>
                <a:ea typeface="Lexend"/>
                <a:cs typeface="Lexend"/>
                <a:sym typeface="Lexend"/>
              </a:rPr>
              <a:t>is the temperature at grid point</a:t>
            </a:r>
            <a:r>
              <a:rPr lang="en-GB" sz="1500">
                <a:latin typeface="Comic Sans MS"/>
                <a:ea typeface="Comic Sans MS"/>
                <a:cs typeface="Comic Sans MS"/>
                <a:sym typeface="Comic Sans MS"/>
              </a:rPr>
              <a:t> </a:t>
            </a:r>
            <a:r>
              <a:rPr i="1" lang="en-GB" sz="1500">
                <a:latin typeface="Roboto"/>
                <a:ea typeface="Roboto"/>
                <a:cs typeface="Roboto"/>
                <a:sym typeface="Roboto"/>
              </a:rPr>
              <a:t>(i, j, k)</a:t>
            </a:r>
            <a:r>
              <a:rPr lang="en-GB" sz="1500">
                <a:latin typeface="Comic Sans MS"/>
                <a:ea typeface="Comic Sans MS"/>
                <a:cs typeface="Comic Sans MS"/>
                <a:sym typeface="Comic Sans MS"/>
              </a:rPr>
              <a:t> </a:t>
            </a:r>
            <a:r>
              <a:rPr lang="en-GB" sz="1500">
                <a:latin typeface="Lexend"/>
                <a:ea typeface="Lexend"/>
                <a:cs typeface="Lexend"/>
                <a:sym typeface="Lexend"/>
              </a:rPr>
              <a:t>at time step</a:t>
            </a:r>
            <a:r>
              <a:rPr lang="en-GB" sz="1500">
                <a:latin typeface="Comic Sans MS"/>
                <a:ea typeface="Comic Sans MS"/>
                <a:cs typeface="Comic Sans MS"/>
                <a:sym typeface="Comic Sans MS"/>
              </a:rPr>
              <a:t> </a:t>
            </a:r>
            <a:r>
              <a:rPr i="1" lang="en-GB" sz="1500">
                <a:latin typeface="Roboto"/>
                <a:ea typeface="Roboto"/>
                <a:cs typeface="Roboto"/>
                <a:sym typeface="Roboto"/>
              </a:rPr>
              <a:t>t</a:t>
            </a:r>
            <a:r>
              <a:rPr lang="en-GB" sz="1500">
                <a:latin typeface="Comic Sans MS"/>
                <a:ea typeface="Comic Sans MS"/>
                <a:cs typeface="Comic Sans MS"/>
                <a:sym typeface="Comic Sans MS"/>
              </a:rPr>
              <a:t>.   </a:t>
            </a:r>
            <a:r>
              <a:rPr lang="en-GB" sz="1500">
                <a:latin typeface="Roboto"/>
                <a:ea typeface="Roboto"/>
                <a:cs typeface="Roboto"/>
                <a:sym typeface="Roboto"/>
              </a:rPr>
              <a:t> </a:t>
            </a:r>
            <a:endParaRPr sz="1500">
              <a:latin typeface="Roboto"/>
              <a:ea typeface="Roboto"/>
              <a:cs typeface="Roboto"/>
              <a:sym typeface="Roboto"/>
            </a:endParaRPr>
          </a:p>
          <a:p>
            <a:pPr indent="0" lvl="0" marL="0" rtl="0" algn="l">
              <a:spcBef>
                <a:spcPts val="0"/>
              </a:spcBef>
              <a:spcAft>
                <a:spcPts val="0"/>
              </a:spcAft>
              <a:buNone/>
            </a:pPr>
            <a:r>
              <a:t/>
            </a:r>
            <a:endParaRPr sz="1500">
              <a:latin typeface="Roboto"/>
              <a:ea typeface="Roboto"/>
              <a:cs typeface="Roboto"/>
              <a:sym typeface="Roboto"/>
            </a:endParaRPr>
          </a:p>
          <a:p>
            <a:pPr indent="0" lvl="0" marL="0" rtl="0" algn="l">
              <a:spcBef>
                <a:spcPts val="0"/>
              </a:spcBef>
              <a:spcAft>
                <a:spcPts val="0"/>
              </a:spcAft>
              <a:buNone/>
            </a:pPr>
            <a:r>
              <a:rPr lang="en-GB" sz="1500">
                <a:latin typeface="Lexend"/>
                <a:ea typeface="Lexend"/>
                <a:cs typeface="Lexend"/>
                <a:sym typeface="Lexend"/>
              </a:rPr>
              <a:t>The goal of this project is to exploit various parallelism strategies to solve the equation much faster. Parallelizing the solution of the heat 3D equation is essential to handle the high computational demands, especially for large grids.</a:t>
            </a:r>
            <a:endParaRPr sz="1500">
              <a:latin typeface="Lexend"/>
              <a:ea typeface="Lexend"/>
              <a:cs typeface="Lexend"/>
              <a:sym typeface="Lexend"/>
            </a:endParaRPr>
          </a:p>
        </p:txBody>
      </p:sp>
      <p:pic>
        <p:nvPicPr>
          <p:cNvPr id="99" name="Google Shape;99;p15"/>
          <p:cNvPicPr preferRelativeResize="0"/>
          <p:nvPr/>
        </p:nvPicPr>
        <p:blipFill>
          <a:blip r:embed="rId3">
            <a:alphaModFix/>
          </a:blip>
          <a:stretch>
            <a:fillRect/>
          </a:stretch>
        </p:blipFill>
        <p:spPr>
          <a:xfrm>
            <a:off x="1608875" y="1372450"/>
            <a:ext cx="5926249" cy="1564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What is OpenMP</a:t>
            </a:r>
            <a:endParaRPr>
              <a:latin typeface="Lexend"/>
              <a:ea typeface="Lexend"/>
              <a:cs typeface="Lexend"/>
              <a:sym typeface="Lexend"/>
            </a:endParaRPr>
          </a:p>
        </p:txBody>
      </p:sp>
      <p:sp>
        <p:nvSpPr>
          <p:cNvPr id="105" name="Google Shape;105;p16"/>
          <p:cNvSpPr txBox="1"/>
          <p:nvPr/>
        </p:nvSpPr>
        <p:spPr>
          <a:xfrm>
            <a:off x="392100" y="1017800"/>
            <a:ext cx="8359800" cy="380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Lexend"/>
                <a:ea typeface="Lexend"/>
                <a:cs typeface="Lexend"/>
                <a:sym typeface="Lexend"/>
              </a:rPr>
              <a:t>OpenMP (Open Multi-Processing) is an open standard for parallel programming in shared-memory environments. It provides a simple and flexible interface for developing parallel applications in C, C++, and Fortran. OpenMP allows developers to take advantage of multi-core and multi-threaded processors by enabling the parallelization of code sections.</a:t>
            </a:r>
            <a:endParaRPr sz="1500">
              <a:latin typeface="Lexend"/>
              <a:ea typeface="Lexend"/>
              <a:cs typeface="Lexend"/>
              <a:sym typeface="Lexend"/>
            </a:endParaRPr>
          </a:p>
          <a:p>
            <a:pPr indent="0" lvl="0" marL="0" rtl="0" algn="l">
              <a:spcBef>
                <a:spcPts val="0"/>
              </a:spcBef>
              <a:spcAft>
                <a:spcPts val="0"/>
              </a:spcAft>
              <a:buNone/>
            </a:pPr>
            <a:r>
              <a:t/>
            </a:r>
            <a:endParaRPr sz="1600">
              <a:latin typeface="Comic Sans MS"/>
              <a:ea typeface="Comic Sans MS"/>
              <a:cs typeface="Comic Sans MS"/>
              <a:sym typeface="Comic Sans MS"/>
            </a:endParaRPr>
          </a:p>
          <a:p>
            <a:pPr indent="0" lvl="0" marL="0" rtl="0" algn="l">
              <a:spcBef>
                <a:spcPts val="0"/>
              </a:spcBef>
              <a:spcAft>
                <a:spcPts val="0"/>
              </a:spcAft>
              <a:buNone/>
            </a:pPr>
            <a:r>
              <a:rPr lang="en-GB" sz="1500">
                <a:latin typeface="Lexend"/>
                <a:ea typeface="Lexend"/>
                <a:cs typeface="Lexend"/>
                <a:sym typeface="Lexend"/>
              </a:rPr>
              <a:t>Key features of OpenMP:</a:t>
            </a:r>
            <a:endParaRPr sz="1500">
              <a:latin typeface="Lexend"/>
              <a:ea typeface="Lexend"/>
              <a:cs typeface="Lexend"/>
              <a:sym typeface="Lexend"/>
            </a:endParaRPr>
          </a:p>
          <a:p>
            <a:pPr indent="-323850" lvl="0" marL="457200" rtl="0" algn="l">
              <a:spcBef>
                <a:spcPts val="0"/>
              </a:spcBef>
              <a:spcAft>
                <a:spcPts val="0"/>
              </a:spcAft>
              <a:buSzPts val="1500"/>
              <a:buFont typeface="Lexend"/>
              <a:buChar char="●"/>
            </a:pPr>
            <a:r>
              <a:rPr b="1" lang="en-GB" sz="1500">
                <a:latin typeface="Lexend"/>
                <a:ea typeface="Lexend"/>
                <a:cs typeface="Lexend"/>
                <a:sym typeface="Lexend"/>
              </a:rPr>
              <a:t>Shared-Memory Parallelism:</a:t>
            </a:r>
            <a:r>
              <a:rPr lang="en-GB" sz="1500">
                <a:latin typeface="Lexend"/>
                <a:ea typeface="Lexend"/>
                <a:cs typeface="Lexend"/>
                <a:sym typeface="Lexend"/>
              </a:rPr>
              <a:t> OpenMP uses the shared-memory programming model, where all threads have access to the same memory space.</a:t>
            </a:r>
            <a:endParaRPr sz="1500">
              <a:latin typeface="Lexend"/>
              <a:ea typeface="Lexend"/>
              <a:cs typeface="Lexend"/>
              <a:sym typeface="Lexend"/>
            </a:endParaRPr>
          </a:p>
          <a:p>
            <a:pPr indent="-323850" lvl="0" marL="457200" rtl="0" algn="l">
              <a:spcBef>
                <a:spcPts val="0"/>
              </a:spcBef>
              <a:spcAft>
                <a:spcPts val="0"/>
              </a:spcAft>
              <a:buSzPts val="1500"/>
              <a:buFont typeface="Lexend"/>
              <a:buChar char="●"/>
            </a:pPr>
            <a:r>
              <a:rPr b="1" lang="en-GB" sz="1500">
                <a:latin typeface="Lexend"/>
                <a:ea typeface="Lexend"/>
                <a:cs typeface="Lexend"/>
                <a:sym typeface="Lexend"/>
              </a:rPr>
              <a:t>Directives-Based:</a:t>
            </a:r>
            <a:r>
              <a:rPr lang="en-GB" sz="1500">
                <a:latin typeface="Lexend"/>
                <a:ea typeface="Lexend"/>
                <a:cs typeface="Lexend"/>
                <a:sym typeface="Lexend"/>
              </a:rPr>
              <a:t> Parallelism is specified using compiler directives (pragmas) embedded in the code, making it easier to add or remove parallelism.</a:t>
            </a:r>
            <a:endParaRPr sz="1500">
              <a:latin typeface="Lexend"/>
              <a:ea typeface="Lexend"/>
              <a:cs typeface="Lexend"/>
              <a:sym typeface="Lexend"/>
            </a:endParaRPr>
          </a:p>
          <a:p>
            <a:pPr indent="-323850" lvl="0" marL="457200" rtl="0" algn="l">
              <a:spcBef>
                <a:spcPts val="0"/>
              </a:spcBef>
              <a:spcAft>
                <a:spcPts val="0"/>
              </a:spcAft>
              <a:buSzPts val="1500"/>
              <a:buFont typeface="Lexend"/>
              <a:buChar char="●"/>
            </a:pPr>
            <a:r>
              <a:rPr b="1" lang="en-GB" sz="1500">
                <a:latin typeface="Lexend"/>
                <a:ea typeface="Lexend"/>
                <a:cs typeface="Lexend"/>
                <a:sym typeface="Lexend"/>
              </a:rPr>
              <a:t>Portable and Scalable:</a:t>
            </a:r>
            <a:r>
              <a:rPr lang="en-GB" sz="1500">
                <a:latin typeface="Lexend"/>
                <a:ea typeface="Lexend"/>
                <a:cs typeface="Lexend"/>
                <a:sym typeface="Lexend"/>
              </a:rPr>
              <a:t> OpenMP programs can run on various architectures, and scalability depends on the number of available processor cores.</a:t>
            </a:r>
            <a:endParaRPr sz="1500">
              <a:latin typeface="Lexend"/>
              <a:ea typeface="Lexend"/>
              <a:cs typeface="Lexend"/>
              <a:sym typeface="Lexend"/>
            </a:endParaRPr>
          </a:p>
          <a:p>
            <a:pPr indent="-323850" lvl="0" marL="457200" rtl="0" algn="l">
              <a:spcBef>
                <a:spcPts val="0"/>
              </a:spcBef>
              <a:spcAft>
                <a:spcPts val="0"/>
              </a:spcAft>
              <a:buSzPts val="1500"/>
              <a:buFont typeface="Lexend"/>
              <a:buChar char="●"/>
            </a:pPr>
            <a:r>
              <a:rPr b="1" lang="en-GB" sz="1500">
                <a:latin typeface="Lexend"/>
                <a:ea typeface="Lexend"/>
                <a:cs typeface="Lexend"/>
                <a:sym typeface="Lexend"/>
              </a:rPr>
              <a:t>Thread Management:</a:t>
            </a:r>
            <a:r>
              <a:rPr lang="en-GB" sz="1500">
                <a:latin typeface="Lexend"/>
                <a:ea typeface="Lexend"/>
                <a:cs typeface="Lexend"/>
                <a:sym typeface="Lexend"/>
              </a:rPr>
              <a:t> OpenMP handles thread creation, management, and synchronization, simplifying the programming model.</a:t>
            </a:r>
            <a:endParaRPr sz="1500">
              <a:latin typeface="Lexend"/>
              <a:ea typeface="Lexend"/>
              <a:cs typeface="Lexend"/>
              <a:sym typeface="Lexend"/>
            </a:endParaRPr>
          </a:p>
          <a:p>
            <a:pPr indent="0" lvl="0" marL="0" rtl="0" algn="l">
              <a:spcBef>
                <a:spcPts val="0"/>
              </a:spcBef>
              <a:spcAft>
                <a:spcPts val="0"/>
              </a:spcAft>
              <a:buNone/>
            </a:pPr>
            <a:r>
              <a:t/>
            </a:r>
            <a:endParaRPr sz="1600">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DOACROSS Parallelism in OpenMP</a:t>
            </a:r>
            <a:endParaRPr>
              <a:latin typeface="Lexend"/>
              <a:ea typeface="Lexend"/>
              <a:cs typeface="Lexend"/>
              <a:sym typeface="Lexend"/>
            </a:endParaRPr>
          </a:p>
        </p:txBody>
      </p:sp>
      <p:sp>
        <p:nvSpPr>
          <p:cNvPr id="111" name="Google Shape;111;p17"/>
          <p:cNvSpPr txBox="1"/>
          <p:nvPr/>
        </p:nvSpPr>
        <p:spPr>
          <a:xfrm>
            <a:off x="310650" y="1180575"/>
            <a:ext cx="8522700" cy="36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Lexend"/>
                <a:ea typeface="Lexend"/>
                <a:cs typeface="Lexend"/>
                <a:sym typeface="Lexend"/>
              </a:rPr>
              <a:t>DOACROSS parallelism is a parallel programming technique used in computational systems, particularly in the context of loop parallelization. It allows loops with inter-iteration dependencies (i.e., when iterations depend on the results of previous iterations) to execute in parallel by carefully managing these dependencies. </a:t>
            </a:r>
            <a:endParaRPr sz="1500">
              <a:latin typeface="Lexend"/>
              <a:ea typeface="Lexend"/>
              <a:cs typeface="Lexend"/>
              <a:sym typeface="Lexend"/>
            </a:endParaRPr>
          </a:p>
          <a:p>
            <a:pPr indent="0" lvl="0" marL="0" rtl="0" algn="l">
              <a:spcBef>
                <a:spcPts val="0"/>
              </a:spcBef>
              <a:spcAft>
                <a:spcPts val="0"/>
              </a:spcAft>
              <a:buNone/>
            </a:pPr>
            <a:r>
              <a:t/>
            </a:r>
            <a:endParaRPr sz="1500">
              <a:latin typeface="Lexend"/>
              <a:ea typeface="Lexend"/>
              <a:cs typeface="Lexend"/>
              <a:sym typeface="Lexend"/>
            </a:endParaRPr>
          </a:p>
          <a:p>
            <a:pPr indent="0" lvl="0" marL="0" rtl="0" algn="l">
              <a:spcBef>
                <a:spcPts val="0"/>
              </a:spcBef>
              <a:spcAft>
                <a:spcPts val="0"/>
              </a:spcAft>
              <a:buNone/>
            </a:pPr>
            <a:r>
              <a:rPr lang="en-GB" sz="1500">
                <a:latin typeface="Lexend"/>
                <a:ea typeface="Lexend"/>
                <a:cs typeface="Lexend"/>
                <a:sym typeface="Lexend"/>
              </a:rPr>
              <a:t>DOACROSS can handle dependencies by synchronizing between iterations </a:t>
            </a:r>
            <a:r>
              <a:rPr lang="en-GB" sz="1500">
                <a:latin typeface="Lexend"/>
                <a:ea typeface="Lexend"/>
                <a:cs typeface="Lexend"/>
                <a:sym typeface="Lexend"/>
              </a:rPr>
              <a:t>when</a:t>
            </a:r>
            <a:r>
              <a:rPr lang="en-GB" sz="1500">
                <a:latin typeface="Lexend"/>
                <a:ea typeface="Lexend"/>
                <a:cs typeface="Lexend"/>
                <a:sym typeface="Lexend"/>
              </a:rPr>
              <a:t> needed allowing partial parallelism while </a:t>
            </a:r>
            <a:r>
              <a:rPr lang="en-GB" sz="1500">
                <a:latin typeface="Lexend"/>
                <a:ea typeface="Lexend"/>
                <a:cs typeface="Lexend"/>
                <a:sym typeface="Lexend"/>
              </a:rPr>
              <a:t>maintaining</a:t>
            </a:r>
            <a:r>
              <a:rPr lang="en-GB" sz="1500">
                <a:latin typeface="Lexend"/>
                <a:ea typeface="Lexend"/>
                <a:cs typeface="Lexend"/>
                <a:sym typeface="Lexend"/>
              </a:rPr>
              <a:t> correctness. Synchronization points (e.g., barriers, flags, or condition variables) are introduced to ensure that an iteration waits for the completion of the specific iterations it depends on. This makes DOACROSS more versatile as it balances parallelism and data management efficiently. </a:t>
            </a:r>
            <a:endParaRPr sz="1500">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Implementation</a:t>
            </a:r>
            <a:endParaRPr>
              <a:latin typeface="Lexend"/>
              <a:ea typeface="Lexend"/>
              <a:cs typeface="Lexend"/>
              <a:sym typeface="Lexend"/>
            </a:endParaRPr>
          </a:p>
        </p:txBody>
      </p:sp>
      <p:pic>
        <p:nvPicPr>
          <p:cNvPr id="117" name="Google Shape;117;p18"/>
          <p:cNvPicPr preferRelativeResize="0"/>
          <p:nvPr/>
        </p:nvPicPr>
        <p:blipFill>
          <a:blip r:embed="rId3">
            <a:alphaModFix/>
          </a:blip>
          <a:stretch>
            <a:fillRect/>
          </a:stretch>
        </p:blipFill>
        <p:spPr>
          <a:xfrm>
            <a:off x="985838" y="1341300"/>
            <a:ext cx="7172325" cy="3067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Explanation</a:t>
            </a:r>
            <a:endParaRPr>
              <a:latin typeface="Lexend"/>
              <a:ea typeface="Lexend"/>
              <a:cs typeface="Lexend"/>
              <a:sym typeface="Lexend"/>
            </a:endParaRPr>
          </a:p>
        </p:txBody>
      </p:sp>
      <p:sp>
        <p:nvSpPr>
          <p:cNvPr id="123" name="Google Shape;123;p19"/>
          <p:cNvSpPr txBox="1"/>
          <p:nvPr/>
        </p:nvSpPr>
        <p:spPr>
          <a:xfrm>
            <a:off x="316050" y="1084325"/>
            <a:ext cx="8511900" cy="36465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None/>
            </a:pPr>
            <a:r>
              <a:rPr lang="en-GB" sz="1500">
                <a:latin typeface="Lexend"/>
                <a:ea typeface="Lexend"/>
                <a:cs typeface="Lexend"/>
                <a:sym typeface="Lexend"/>
              </a:rPr>
              <a:t>The directive</a:t>
            </a:r>
            <a:endParaRPr sz="1500">
              <a:latin typeface="Lexend"/>
              <a:ea typeface="Lexend"/>
              <a:cs typeface="Lexend"/>
              <a:sym typeface="Lexend"/>
            </a:endParaRPr>
          </a:p>
          <a:p>
            <a:pPr indent="0" lvl="0" marL="12700" rtl="0" algn="l">
              <a:lnSpc>
                <a:spcPct val="115000"/>
              </a:lnSpc>
              <a:spcBef>
                <a:spcPts val="0"/>
              </a:spcBef>
              <a:spcAft>
                <a:spcPts val="0"/>
              </a:spcAft>
              <a:buNone/>
            </a:pPr>
            <a:r>
              <a:t/>
            </a:r>
            <a:endParaRPr sz="1500">
              <a:latin typeface="Comic Sans MS"/>
              <a:ea typeface="Comic Sans MS"/>
              <a:cs typeface="Comic Sans MS"/>
              <a:sym typeface="Comic Sans MS"/>
            </a:endParaRPr>
          </a:p>
          <a:p>
            <a:pPr indent="0" lvl="0" marL="12700" rtl="0" algn="ctr">
              <a:lnSpc>
                <a:spcPct val="115000"/>
              </a:lnSpc>
              <a:spcBef>
                <a:spcPts val="0"/>
              </a:spcBef>
              <a:spcAft>
                <a:spcPts val="0"/>
              </a:spcAft>
              <a:buNone/>
            </a:pPr>
            <a:r>
              <a:rPr lang="en-GB" sz="1600">
                <a:latin typeface="Comic Sans MS"/>
                <a:ea typeface="Comic Sans MS"/>
                <a:cs typeface="Comic Sans MS"/>
                <a:sym typeface="Comic Sans MS"/>
              </a:rPr>
              <a:t>  </a:t>
            </a:r>
            <a:r>
              <a:rPr b="1" lang="en-GB" sz="1500">
                <a:latin typeface="Courier New"/>
                <a:ea typeface="Courier New"/>
                <a:cs typeface="Courier New"/>
                <a:sym typeface="Courier New"/>
              </a:rPr>
              <a:t>#pragma omp parallel for collapse(3) schedule(guided)</a:t>
            </a:r>
            <a:endParaRPr b="1" sz="1500">
              <a:latin typeface="Courier New"/>
              <a:ea typeface="Courier New"/>
              <a:cs typeface="Courier New"/>
              <a:sym typeface="Courier New"/>
            </a:endParaRPr>
          </a:p>
          <a:p>
            <a:pPr indent="0" lvl="0" marL="12700" rtl="0" algn="ctr">
              <a:lnSpc>
                <a:spcPct val="115000"/>
              </a:lnSpc>
              <a:spcBef>
                <a:spcPts val="0"/>
              </a:spcBef>
              <a:spcAft>
                <a:spcPts val="0"/>
              </a:spcAft>
              <a:buNone/>
            </a:pPr>
            <a:r>
              <a:t/>
            </a:r>
            <a:endParaRPr b="1" sz="1600">
              <a:latin typeface="Courier New"/>
              <a:ea typeface="Courier New"/>
              <a:cs typeface="Courier New"/>
              <a:sym typeface="Courier New"/>
            </a:endParaRPr>
          </a:p>
          <a:p>
            <a:pPr indent="0" lvl="0" marL="12700" rtl="0" algn="l">
              <a:lnSpc>
                <a:spcPct val="115000"/>
              </a:lnSpc>
              <a:spcBef>
                <a:spcPts val="0"/>
              </a:spcBef>
              <a:spcAft>
                <a:spcPts val="0"/>
              </a:spcAft>
              <a:buNone/>
            </a:pPr>
            <a:r>
              <a:rPr lang="en-GB" sz="1500">
                <a:latin typeface="Lexend"/>
                <a:ea typeface="Lexend"/>
                <a:cs typeface="Lexend"/>
                <a:sym typeface="Lexend"/>
              </a:rPr>
              <a:t>will parallelize nested loops in OpenMP.</a:t>
            </a:r>
            <a:endParaRPr sz="1500">
              <a:latin typeface="Lexend"/>
              <a:ea typeface="Lexend"/>
              <a:cs typeface="Lexend"/>
              <a:sym typeface="Lexend"/>
            </a:endParaRPr>
          </a:p>
          <a:p>
            <a:pPr indent="-323850" lvl="0" marL="457200" rtl="0" algn="l">
              <a:lnSpc>
                <a:spcPct val="115000"/>
              </a:lnSpc>
              <a:spcBef>
                <a:spcPts val="0"/>
              </a:spcBef>
              <a:spcAft>
                <a:spcPts val="0"/>
              </a:spcAft>
              <a:buSzPts val="1500"/>
              <a:buFont typeface="Comic Sans MS"/>
              <a:buChar char="●"/>
            </a:pPr>
            <a:r>
              <a:rPr b="1" lang="en-GB" sz="1500">
                <a:latin typeface="Lexend"/>
                <a:ea typeface="Lexend"/>
                <a:cs typeface="Lexend"/>
                <a:sym typeface="Lexend"/>
              </a:rPr>
              <a:t>Parallel for:</a:t>
            </a:r>
            <a:r>
              <a:rPr lang="en-GB" sz="1500">
                <a:latin typeface="Lexend"/>
                <a:ea typeface="Lexend"/>
                <a:cs typeface="Lexend"/>
                <a:sym typeface="Lexend"/>
              </a:rPr>
              <a:t> construct is used to distribute iterations of a loop among multiple threads, enabling parallel execution. </a:t>
            </a:r>
            <a:endParaRPr sz="1500">
              <a:latin typeface="Lexend"/>
              <a:ea typeface="Lexend"/>
              <a:cs typeface="Lexend"/>
              <a:sym typeface="Lexend"/>
            </a:endParaRPr>
          </a:p>
          <a:p>
            <a:pPr indent="-323850" lvl="0" marL="457200" rtl="0" algn="l">
              <a:lnSpc>
                <a:spcPct val="115000"/>
              </a:lnSpc>
              <a:spcBef>
                <a:spcPts val="0"/>
              </a:spcBef>
              <a:spcAft>
                <a:spcPts val="0"/>
              </a:spcAft>
              <a:buSzPts val="1500"/>
              <a:buFont typeface="Comic Sans MS"/>
              <a:buChar char="●"/>
            </a:pPr>
            <a:r>
              <a:rPr b="1" lang="en-GB" sz="1500">
                <a:latin typeface="Lexend"/>
                <a:ea typeface="Lexend"/>
                <a:cs typeface="Lexend"/>
                <a:sym typeface="Lexend"/>
              </a:rPr>
              <a:t>Collapse(3):</a:t>
            </a:r>
            <a:r>
              <a:rPr lang="en-GB" sz="1500">
                <a:latin typeface="Lexend"/>
                <a:ea typeface="Lexend"/>
                <a:cs typeface="Lexend"/>
                <a:sym typeface="Lexend"/>
              </a:rPr>
              <a:t> </a:t>
            </a:r>
            <a:r>
              <a:rPr lang="en-GB" sz="1500">
                <a:latin typeface="Lexend"/>
                <a:ea typeface="Lexend"/>
                <a:cs typeface="Lexend"/>
                <a:sym typeface="Lexend"/>
              </a:rPr>
              <a:t>c</a:t>
            </a:r>
            <a:r>
              <a:rPr lang="en-GB" sz="1500">
                <a:latin typeface="Lexend"/>
                <a:ea typeface="Lexend"/>
                <a:cs typeface="Lexend"/>
                <a:sym typeface="Lexend"/>
              </a:rPr>
              <a:t>ombines the three nested loops into a single large loop, enabling efficient parallelization of all iterations.</a:t>
            </a:r>
            <a:endParaRPr sz="1500">
              <a:latin typeface="Lexend"/>
              <a:ea typeface="Lexend"/>
              <a:cs typeface="Lexend"/>
              <a:sym typeface="Lexend"/>
            </a:endParaRPr>
          </a:p>
          <a:p>
            <a:pPr indent="-323850" lvl="0" marL="457200" rtl="0" algn="l">
              <a:lnSpc>
                <a:spcPct val="115000"/>
              </a:lnSpc>
              <a:spcBef>
                <a:spcPts val="0"/>
              </a:spcBef>
              <a:spcAft>
                <a:spcPts val="0"/>
              </a:spcAft>
              <a:buSzPts val="1500"/>
              <a:buFont typeface="Comic Sans MS"/>
              <a:buChar char="●"/>
            </a:pPr>
            <a:r>
              <a:rPr b="1" lang="en-GB" sz="1500">
                <a:latin typeface="Lexend"/>
                <a:ea typeface="Lexend"/>
                <a:cs typeface="Lexend"/>
                <a:sym typeface="Lexend"/>
              </a:rPr>
              <a:t>Guided Scheduling:</a:t>
            </a:r>
            <a:r>
              <a:rPr lang="en-GB" sz="1500">
                <a:latin typeface="Lexend"/>
                <a:ea typeface="Lexend"/>
                <a:cs typeface="Lexend"/>
                <a:sym typeface="Lexend"/>
              </a:rPr>
              <a:t> Schedule </a:t>
            </a:r>
            <a:r>
              <a:rPr lang="en-GB" sz="1500">
                <a:latin typeface="Lexend"/>
                <a:ea typeface="Lexend"/>
                <a:cs typeface="Lexend"/>
                <a:sym typeface="Lexend"/>
              </a:rPr>
              <a:t>controls</a:t>
            </a:r>
            <a:r>
              <a:rPr lang="en-GB" sz="1500">
                <a:latin typeface="Lexend"/>
                <a:ea typeface="Lexend"/>
                <a:cs typeface="Lexend"/>
                <a:sym typeface="Lexend"/>
              </a:rPr>
              <a:t> how iterations are divided among threads. Dynamic schedule assigns iterations to threads, starting with large chunks and reducing the chunk size as execution progresses.</a:t>
            </a:r>
            <a:endParaRPr sz="1500">
              <a:solidFill>
                <a:schemeClr val="dk2"/>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311700" y="3138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Wavefront Parallelism</a:t>
            </a:r>
            <a:endParaRPr>
              <a:latin typeface="Lexend"/>
              <a:ea typeface="Lexend"/>
              <a:cs typeface="Lexend"/>
              <a:sym typeface="Lexend"/>
            </a:endParaRPr>
          </a:p>
        </p:txBody>
      </p:sp>
      <p:sp>
        <p:nvSpPr>
          <p:cNvPr id="129" name="Google Shape;129;p20"/>
          <p:cNvSpPr txBox="1"/>
          <p:nvPr/>
        </p:nvSpPr>
        <p:spPr>
          <a:xfrm>
            <a:off x="300000" y="1017800"/>
            <a:ext cx="8544000" cy="38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Lexend"/>
                <a:ea typeface="Lexend"/>
                <a:cs typeface="Lexend"/>
                <a:sym typeface="Lexend"/>
              </a:rPr>
              <a:t>Wavefront parallelism is a computational technique used to parallelize algorithms or workloads where data dependencies form a wave-like progression across a multidimensional grid. </a:t>
            </a:r>
            <a:endParaRPr sz="1500">
              <a:latin typeface="Lexend"/>
              <a:ea typeface="Lexend"/>
              <a:cs typeface="Lexend"/>
              <a:sym typeface="Lexend"/>
            </a:endParaRPr>
          </a:p>
          <a:p>
            <a:pPr indent="0" lvl="0" marL="0" rtl="0" algn="l">
              <a:spcBef>
                <a:spcPts val="0"/>
              </a:spcBef>
              <a:spcAft>
                <a:spcPts val="0"/>
              </a:spcAft>
              <a:buNone/>
            </a:pPr>
            <a:r>
              <a:t/>
            </a:r>
            <a:endParaRPr sz="1500">
              <a:latin typeface="Lexend"/>
              <a:ea typeface="Lexend"/>
              <a:cs typeface="Lexend"/>
              <a:sym typeface="Lexend"/>
            </a:endParaRPr>
          </a:p>
          <a:p>
            <a:pPr indent="0" lvl="0" marL="0" rtl="0" algn="l">
              <a:spcBef>
                <a:spcPts val="0"/>
              </a:spcBef>
              <a:spcAft>
                <a:spcPts val="0"/>
              </a:spcAft>
              <a:buNone/>
            </a:pPr>
            <a:r>
              <a:rPr lang="en-GB" sz="1500">
                <a:latin typeface="Lexend"/>
                <a:ea typeface="Lexend"/>
                <a:cs typeface="Lexend"/>
                <a:sym typeface="Lexend"/>
              </a:rPr>
              <a:t>Key characteristics:</a:t>
            </a:r>
            <a:endParaRPr sz="1500">
              <a:latin typeface="Lexend"/>
              <a:ea typeface="Lexend"/>
              <a:cs typeface="Lexend"/>
              <a:sym typeface="Lexend"/>
            </a:endParaRPr>
          </a:p>
          <a:p>
            <a:pPr indent="-323850" lvl="0" marL="457200" rtl="0" algn="l">
              <a:spcBef>
                <a:spcPts val="0"/>
              </a:spcBef>
              <a:spcAft>
                <a:spcPts val="0"/>
              </a:spcAft>
              <a:buSzPts val="1500"/>
              <a:buFont typeface="Lexend"/>
              <a:buChar char="●"/>
            </a:pPr>
            <a:r>
              <a:rPr b="1" lang="en-GB" sz="1500">
                <a:latin typeface="Lexend"/>
                <a:ea typeface="Lexend"/>
                <a:cs typeface="Lexend"/>
                <a:sym typeface="Lexend"/>
              </a:rPr>
              <a:t>Dependency structure:</a:t>
            </a:r>
            <a:r>
              <a:rPr lang="en-GB" sz="1500">
                <a:latin typeface="Lexend"/>
                <a:ea typeface="Lexend"/>
                <a:cs typeface="Lexend"/>
                <a:sym typeface="Lexend"/>
              </a:rPr>
              <a:t> Wavefront parallelism is used when computations at a grid point depend on values from earlier grid points. Typically, dependencies flow diagonally, creating a "wavefront" of independent tasks that can be processed in parallel.</a:t>
            </a:r>
            <a:endParaRPr sz="1500">
              <a:latin typeface="Lexend"/>
              <a:ea typeface="Lexend"/>
              <a:cs typeface="Lexend"/>
              <a:sym typeface="Lexend"/>
            </a:endParaRPr>
          </a:p>
          <a:p>
            <a:pPr indent="-323850" lvl="0" marL="457200" rtl="0" algn="l">
              <a:spcBef>
                <a:spcPts val="0"/>
              </a:spcBef>
              <a:spcAft>
                <a:spcPts val="0"/>
              </a:spcAft>
              <a:buSzPts val="1500"/>
              <a:buFont typeface="Lexend"/>
              <a:buChar char="●"/>
            </a:pPr>
            <a:r>
              <a:rPr b="1" lang="en-GB" sz="1500">
                <a:latin typeface="Lexend"/>
                <a:ea typeface="Lexend"/>
                <a:cs typeface="Lexend"/>
                <a:sym typeface="Lexend"/>
              </a:rPr>
              <a:t>Execution Pattern:</a:t>
            </a:r>
            <a:r>
              <a:rPr lang="en-GB" sz="1500">
                <a:latin typeface="Lexend"/>
                <a:ea typeface="Lexend"/>
                <a:cs typeface="Lexend"/>
                <a:sym typeface="Lexend"/>
              </a:rPr>
              <a:t> The wavefront starts at one corner of the grid (e.g., the top-left for a 2D grid) and progresses diagonally to the opposite corner (e.g., bottom-right). At each step, computations on the current wavefront are independent and can be executed in parallel.</a:t>
            </a:r>
            <a:endParaRPr sz="1500">
              <a:latin typeface="Lexend"/>
              <a:ea typeface="Lexend"/>
              <a:cs typeface="Lexend"/>
              <a:sym typeface="Lexend"/>
            </a:endParaRPr>
          </a:p>
          <a:p>
            <a:pPr indent="-323850" lvl="0" marL="457200" rtl="0" algn="l">
              <a:spcBef>
                <a:spcPts val="0"/>
              </a:spcBef>
              <a:spcAft>
                <a:spcPts val="0"/>
              </a:spcAft>
              <a:buSzPts val="1500"/>
              <a:buFont typeface="Lexend"/>
              <a:buChar char="●"/>
            </a:pPr>
            <a:r>
              <a:rPr b="1" lang="en-GB" sz="1500">
                <a:latin typeface="Lexend"/>
                <a:ea typeface="Lexend"/>
                <a:cs typeface="Lexend"/>
                <a:sym typeface="Lexend"/>
              </a:rPr>
              <a:t>Synchronization:</a:t>
            </a:r>
            <a:r>
              <a:rPr lang="en-GB" sz="1500">
                <a:latin typeface="Lexend"/>
                <a:ea typeface="Lexend"/>
                <a:cs typeface="Lexend"/>
                <a:sym typeface="Lexend"/>
              </a:rPr>
              <a:t> Synchronization is needed between wavefront steps to ensure that dependencies are resolved before starting the next wavefront.</a:t>
            </a:r>
            <a:endParaRPr sz="1500">
              <a:latin typeface="Lexend"/>
              <a:ea typeface="Lexend"/>
              <a:cs typeface="Lexend"/>
              <a:sym typeface="Lexend"/>
            </a:endParaRPr>
          </a:p>
          <a:p>
            <a:pPr indent="0" lvl="0" marL="0" rtl="0" algn="l">
              <a:spcBef>
                <a:spcPts val="0"/>
              </a:spcBef>
              <a:spcAft>
                <a:spcPts val="0"/>
              </a:spcAft>
              <a:buNone/>
            </a:pPr>
            <a:r>
              <a:t/>
            </a:r>
            <a:endParaRPr sz="1600">
              <a:latin typeface="Comic Sans MS"/>
              <a:ea typeface="Comic Sans MS"/>
              <a:cs typeface="Comic Sans MS"/>
              <a:sym typeface="Comic Sans MS"/>
            </a:endParaRPr>
          </a:p>
          <a:p>
            <a:pPr indent="0" lvl="0" marL="0" rtl="0" algn="l">
              <a:spcBef>
                <a:spcPts val="0"/>
              </a:spcBef>
              <a:spcAft>
                <a:spcPts val="0"/>
              </a:spcAft>
              <a:buNone/>
            </a:pPr>
            <a:r>
              <a:t/>
            </a:r>
            <a:endParaRPr sz="1600">
              <a:latin typeface="Comic Sans MS"/>
              <a:ea typeface="Comic Sans MS"/>
              <a:cs typeface="Comic Sans MS"/>
              <a:sym typeface="Comic Sans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311700" y="164025"/>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Implementation</a:t>
            </a:r>
            <a:endParaRPr>
              <a:latin typeface="Lexend"/>
              <a:ea typeface="Lexend"/>
              <a:cs typeface="Lexend"/>
              <a:sym typeface="Lexend"/>
            </a:endParaRPr>
          </a:p>
        </p:txBody>
      </p:sp>
      <p:pic>
        <p:nvPicPr>
          <p:cNvPr id="135" name="Google Shape;135;p21"/>
          <p:cNvPicPr preferRelativeResize="0"/>
          <p:nvPr/>
        </p:nvPicPr>
        <p:blipFill>
          <a:blip r:embed="rId3">
            <a:alphaModFix/>
          </a:blip>
          <a:stretch>
            <a:fillRect/>
          </a:stretch>
        </p:blipFill>
        <p:spPr>
          <a:xfrm>
            <a:off x="926450" y="878775"/>
            <a:ext cx="7291090" cy="3820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Explanation</a:t>
            </a:r>
            <a:endParaRPr>
              <a:latin typeface="Lexend"/>
              <a:ea typeface="Lexend"/>
              <a:cs typeface="Lexend"/>
              <a:sym typeface="Lexend"/>
            </a:endParaRPr>
          </a:p>
        </p:txBody>
      </p:sp>
      <p:sp>
        <p:nvSpPr>
          <p:cNvPr id="141" name="Google Shape;141;p22"/>
          <p:cNvSpPr txBox="1"/>
          <p:nvPr/>
        </p:nvSpPr>
        <p:spPr>
          <a:xfrm>
            <a:off x="322950" y="1276775"/>
            <a:ext cx="8511900" cy="314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Lexend"/>
                <a:ea typeface="Lexend"/>
                <a:cs typeface="Lexend"/>
                <a:sym typeface="Lexend"/>
              </a:rPr>
              <a:t>Here we </a:t>
            </a:r>
            <a:r>
              <a:rPr lang="en-GB" sz="1500">
                <a:latin typeface="Lexend"/>
                <a:ea typeface="Lexend"/>
                <a:cs typeface="Lexend"/>
                <a:sym typeface="Lexend"/>
              </a:rPr>
              <a:t>consider a plane wave propagating along the body diagonal of the grid in one time step. Diagonal planar slices of the cubic grid become the wavefront. So we process the grid in the following way: first we compute for all points </a:t>
            </a:r>
            <a:r>
              <a:rPr i="1" lang="en-GB" sz="1500">
                <a:latin typeface="Roboto"/>
                <a:ea typeface="Roboto"/>
                <a:cs typeface="Roboto"/>
                <a:sym typeface="Roboto"/>
              </a:rPr>
              <a:t>(i, j, k)</a:t>
            </a:r>
            <a:r>
              <a:rPr i="1" lang="en-GB" sz="1500">
                <a:latin typeface="Lexend"/>
                <a:ea typeface="Lexend"/>
                <a:cs typeface="Lexend"/>
                <a:sym typeface="Lexend"/>
              </a:rPr>
              <a:t> </a:t>
            </a:r>
            <a:r>
              <a:rPr lang="en-GB" sz="1500">
                <a:latin typeface="Lexend"/>
                <a:ea typeface="Lexend"/>
                <a:cs typeface="Lexend"/>
                <a:sym typeface="Lexend"/>
              </a:rPr>
              <a:t>such that </a:t>
            </a:r>
            <a:r>
              <a:rPr i="1" lang="en-GB" sz="1500">
                <a:latin typeface="Roboto"/>
                <a:ea typeface="Roboto"/>
                <a:cs typeface="Roboto"/>
                <a:sym typeface="Roboto"/>
              </a:rPr>
              <a:t>i + j + k = 0</a:t>
            </a:r>
            <a:r>
              <a:rPr lang="en-GB" sz="1500">
                <a:latin typeface="Lexend"/>
                <a:ea typeface="Lexend"/>
                <a:cs typeface="Lexend"/>
                <a:sym typeface="Lexend"/>
              </a:rPr>
              <a:t>, then compute for </a:t>
            </a:r>
            <a:r>
              <a:rPr i="1" lang="en-GB" sz="1500">
                <a:latin typeface="Roboto"/>
                <a:ea typeface="Roboto"/>
                <a:cs typeface="Roboto"/>
                <a:sym typeface="Roboto"/>
              </a:rPr>
              <a:t>i + j + k = 1</a:t>
            </a:r>
            <a:r>
              <a:rPr lang="en-GB" sz="1500">
                <a:latin typeface="Lexend"/>
                <a:ea typeface="Lexend"/>
                <a:cs typeface="Lexend"/>
                <a:sym typeface="Lexend"/>
              </a:rPr>
              <a:t>, then for </a:t>
            </a:r>
            <a:r>
              <a:rPr i="1" lang="en-GB" sz="1500">
                <a:latin typeface="Lexend"/>
                <a:ea typeface="Lexend"/>
                <a:cs typeface="Lexend"/>
                <a:sym typeface="Lexend"/>
              </a:rPr>
              <a:t>i</a:t>
            </a:r>
            <a:r>
              <a:rPr i="1" lang="en-GB" sz="1500">
                <a:latin typeface="Roboto"/>
                <a:ea typeface="Roboto"/>
                <a:cs typeface="Roboto"/>
                <a:sym typeface="Roboto"/>
              </a:rPr>
              <a:t> + j + k = 2</a:t>
            </a:r>
            <a:r>
              <a:rPr lang="en-GB" sz="1500">
                <a:latin typeface="Roboto"/>
                <a:ea typeface="Roboto"/>
                <a:cs typeface="Roboto"/>
                <a:sym typeface="Roboto"/>
              </a:rPr>
              <a:t> </a:t>
            </a:r>
            <a:r>
              <a:rPr lang="en-GB" sz="1500">
                <a:latin typeface="Lexend"/>
                <a:ea typeface="Lexend"/>
                <a:cs typeface="Lexend"/>
                <a:sym typeface="Lexend"/>
              </a:rPr>
              <a:t>and so on. </a:t>
            </a:r>
            <a:endParaRPr sz="1500">
              <a:latin typeface="Lexend"/>
              <a:ea typeface="Lexend"/>
              <a:cs typeface="Lexend"/>
              <a:sym typeface="Lexend"/>
            </a:endParaRPr>
          </a:p>
          <a:p>
            <a:pPr indent="0" lvl="0" marL="0" rtl="0" algn="l">
              <a:spcBef>
                <a:spcPts val="0"/>
              </a:spcBef>
              <a:spcAft>
                <a:spcPts val="0"/>
              </a:spcAft>
              <a:buNone/>
            </a:pPr>
            <a:r>
              <a:t/>
            </a:r>
            <a:endParaRPr sz="1500">
              <a:latin typeface="Lexend"/>
              <a:ea typeface="Lexend"/>
              <a:cs typeface="Lexend"/>
              <a:sym typeface="Lexend"/>
            </a:endParaRPr>
          </a:p>
          <a:p>
            <a:pPr indent="0" lvl="0" marL="0" rtl="0" algn="l">
              <a:spcBef>
                <a:spcPts val="0"/>
              </a:spcBef>
              <a:spcAft>
                <a:spcPts val="0"/>
              </a:spcAft>
              <a:buNone/>
            </a:pPr>
            <a:r>
              <a:rPr lang="en-GB" sz="1500">
                <a:latin typeface="Lexend"/>
                <a:ea typeface="Lexend"/>
                <a:cs typeface="Lexend"/>
                <a:sym typeface="Lexend"/>
              </a:rPr>
              <a:t>Each diagonal slice (wavefront) can be computed independently in parallel.  We also used OpenMP to parallelize the iterations among wavefronts.</a:t>
            </a:r>
            <a:endParaRPr sz="1500">
              <a:latin typeface="Lexend"/>
              <a:ea typeface="Lexend"/>
              <a:cs typeface="Lexend"/>
              <a:sym typeface="Lexend"/>
            </a:endParaRPr>
          </a:p>
          <a:p>
            <a:pPr indent="0" lvl="0" marL="0" rtl="0" algn="l">
              <a:spcBef>
                <a:spcPts val="0"/>
              </a:spcBef>
              <a:spcAft>
                <a:spcPts val="0"/>
              </a:spcAft>
              <a:buNone/>
            </a:pPr>
            <a:r>
              <a:t/>
            </a:r>
            <a:endParaRPr sz="1600">
              <a:latin typeface="Comic Sans MS"/>
              <a:ea typeface="Comic Sans MS"/>
              <a:cs typeface="Comic Sans MS"/>
              <a:sym typeface="Comic Sans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SIMD parallelism</a:t>
            </a:r>
            <a:endParaRPr>
              <a:latin typeface="Lexend"/>
              <a:ea typeface="Lexend"/>
              <a:cs typeface="Lexend"/>
              <a:sym typeface="Lexend"/>
            </a:endParaRPr>
          </a:p>
        </p:txBody>
      </p:sp>
      <p:sp>
        <p:nvSpPr>
          <p:cNvPr id="147" name="Google Shape;147;p23"/>
          <p:cNvSpPr txBox="1"/>
          <p:nvPr/>
        </p:nvSpPr>
        <p:spPr>
          <a:xfrm>
            <a:off x="321450" y="1017800"/>
            <a:ext cx="8501100" cy="38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Lexend"/>
                <a:ea typeface="Lexend"/>
                <a:cs typeface="Lexend"/>
                <a:sym typeface="Lexend"/>
              </a:rPr>
              <a:t>SIMD (Single Instruction Multiple Data) instructions allows multiple data elements to be processed simultaneously with a single instruction, improving parallelism and performance. SIMD instructions are typically used to enhance the performance of data-parallel tasks such as array processing, graphics rendering, or scientific computations.</a:t>
            </a:r>
            <a:endParaRPr sz="1500">
              <a:latin typeface="Lexend"/>
              <a:ea typeface="Lexend"/>
              <a:cs typeface="Lexend"/>
              <a:sym typeface="Lexend"/>
            </a:endParaRPr>
          </a:p>
          <a:p>
            <a:pPr indent="0" lvl="0" marL="0" rtl="0" algn="l">
              <a:spcBef>
                <a:spcPts val="0"/>
              </a:spcBef>
              <a:spcAft>
                <a:spcPts val="0"/>
              </a:spcAft>
              <a:buNone/>
            </a:pPr>
            <a:r>
              <a:t/>
            </a:r>
            <a:endParaRPr sz="1500">
              <a:latin typeface="Lexend"/>
              <a:ea typeface="Lexend"/>
              <a:cs typeface="Lexend"/>
              <a:sym typeface="Lexend"/>
            </a:endParaRPr>
          </a:p>
          <a:p>
            <a:pPr indent="0" lvl="0" marL="0" rtl="0" algn="l">
              <a:spcBef>
                <a:spcPts val="0"/>
              </a:spcBef>
              <a:spcAft>
                <a:spcPts val="0"/>
              </a:spcAft>
              <a:buNone/>
            </a:pPr>
            <a:r>
              <a:rPr lang="en-GB" sz="1500">
                <a:latin typeface="Lexend"/>
                <a:ea typeface="Lexend"/>
                <a:cs typeface="Lexend"/>
                <a:sym typeface="Lexend"/>
              </a:rPr>
              <a:t>It uses vector registers like AVX2, which can process multiple data elements simultaneously. For eg. with AVX2, a 256-bit vector register can hold 8 single-precision floats or 4 double-precision floats. Instead of performing operations one element at a time, SIMD performs them across all elements in the vector.</a:t>
            </a:r>
            <a:endParaRPr sz="1500">
              <a:latin typeface="Lexend"/>
              <a:ea typeface="Lexend"/>
              <a:cs typeface="Lexend"/>
              <a:sym typeface="Lexend"/>
            </a:endParaRPr>
          </a:p>
          <a:p>
            <a:pPr indent="0" lvl="0" marL="0" rtl="0" algn="l">
              <a:spcBef>
                <a:spcPts val="0"/>
              </a:spcBef>
              <a:spcAft>
                <a:spcPts val="0"/>
              </a:spcAft>
              <a:buNone/>
            </a:pPr>
            <a:r>
              <a:t/>
            </a:r>
            <a:endParaRPr sz="1500">
              <a:solidFill>
                <a:schemeClr val="dk2"/>
              </a:solidFill>
              <a:latin typeface="Lexend"/>
              <a:ea typeface="Lexend"/>
              <a:cs typeface="Lexend"/>
              <a:sym typeface="Lexend"/>
            </a:endParaRPr>
          </a:p>
          <a:p>
            <a:pPr indent="0" lvl="0" marL="0" rtl="0" algn="l">
              <a:spcBef>
                <a:spcPts val="0"/>
              </a:spcBef>
              <a:spcAft>
                <a:spcPts val="0"/>
              </a:spcAft>
              <a:buNone/>
            </a:pPr>
            <a:r>
              <a:rPr lang="en-GB" sz="1500">
                <a:latin typeface="Lexend"/>
                <a:ea typeface="Lexend"/>
                <a:cs typeface="Lexend"/>
                <a:sym typeface="Lexend"/>
              </a:rPr>
              <a:t>In C++, SIMD can be utilized through compiler intrinsic functions. Compiler intrinsics provide direct access to SIMD operations, and they are specific to the architecture you're targeting (e.g., SSE, AVX for Intel/AMD processors).</a:t>
            </a:r>
            <a:endParaRPr sz="1500">
              <a:solidFill>
                <a:schemeClr val="dk2"/>
              </a:solidFill>
              <a:latin typeface="Lexend"/>
              <a:ea typeface="Lexend"/>
              <a:cs typeface="Lexend"/>
              <a:sym typeface="Lexend"/>
            </a:endParaRPr>
          </a:p>
          <a:p>
            <a:pPr indent="0" lvl="0" marL="0" rtl="0" algn="l">
              <a:spcBef>
                <a:spcPts val="0"/>
              </a:spcBef>
              <a:spcAft>
                <a:spcPts val="0"/>
              </a:spcAft>
              <a:buNone/>
            </a:pPr>
            <a:r>
              <a:t/>
            </a:r>
            <a:endParaRPr sz="1500">
              <a:solidFill>
                <a:schemeClr val="dk2"/>
              </a:solidFill>
              <a:latin typeface="Comic Sans MS"/>
              <a:ea typeface="Comic Sans MS"/>
              <a:cs typeface="Comic Sans MS"/>
              <a:sym typeface="Comic Sans MS"/>
            </a:endParaRPr>
          </a:p>
          <a:p>
            <a:pPr indent="0" lvl="0" marL="0" rtl="0" algn="l">
              <a:spcBef>
                <a:spcPts val="0"/>
              </a:spcBef>
              <a:spcAft>
                <a:spcPts val="0"/>
              </a:spcAft>
              <a:buNone/>
            </a:pPr>
            <a:r>
              <a:t/>
            </a:r>
            <a:endParaRPr sz="1500">
              <a:solidFill>
                <a:schemeClr val="dk2"/>
              </a:solidFill>
              <a:latin typeface="Comic Sans MS"/>
              <a:ea typeface="Comic Sans MS"/>
              <a:cs typeface="Comic Sans MS"/>
              <a:sym typeface="Comic Sans MS"/>
            </a:endParaRPr>
          </a:p>
          <a:p>
            <a:pPr indent="0" lvl="0" marL="0" rtl="0" algn="l">
              <a:spcBef>
                <a:spcPts val="0"/>
              </a:spcBef>
              <a:spcAft>
                <a:spcPts val="0"/>
              </a:spcAft>
              <a:buNone/>
            </a:pPr>
            <a:r>
              <a:t/>
            </a:r>
            <a:endParaRPr sz="1500">
              <a:solidFill>
                <a:schemeClr val="dk2"/>
              </a:solidFill>
              <a:latin typeface="Comic Sans MS"/>
              <a:ea typeface="Comic Sans MS"/>
              <a:cs typeface="Comic Sans MS"/>
              <a:sym typeface="Comic Sans MS"/>
            </a:endParaRPr>
          </a:p>
          <a:p>
            <a:pPr indent="0" lvl="0" marL="0" rtl="0" algn="l">
              <a:spcBef>
                <a:spcPts val="0"/>
              </a:spcBef>
              <a:spcAft>
                <a:spcPts val="0"/>
              </a:spcAft>
              <a:buNone/>
            </a:pPr>
            <a:r>
              <a:t/>
            </a:r>
            <a:endParaRPr sz="1500">
              <a:solidFill>
                <a:schemeClr val="dk2"/>
              </a:solidFill>
              <a:latin typeface="Comic Sans MS"/>
              <a:ea typeface="Comic Sans MS"/>
              <a:cs typeface="Comic Sans MS"/>
              <a:sym typeface="Comic Sans MS"/>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311688" y="785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Implementation</a:t>
            </a:r>
            <a:endParaRPr>
              <a:latin typeface="Lexend"/>
              <a:ea typeface="Lexend"/>
              <a:cs typeface="Lexend"/>
              <a:sym typeface="Lexend"/>
            </a:endParaRPr>
          </a:p>
        </p:txBody>
      </p:sp>
      <p:pic>
        <p:nvPicPr>
          <p:cNvPr id="153" name="Google Shape;153;p24"/>
          <p:cNvPicPr preferRelativeResize="0"/>
          <p:nvPr/>
        </p:nvPicPr>
        <p:blipFill>
          <a:blip r:embed="rId3">
            <a:alphaModFix/>
          </a:blip>
          <a:stretch>
            <a:fillRect/>
          </a:stretch>
        </p:blipFill>
        <p:spPr>
          <a:xfrm>
            <a:off x="2003150" y="761150"/>
            <a:ext cx="5137724" cy="40841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Explanation</a:t>
            </a:r>
            <a:endParaRPr>
              <a:latin typeface="Lexend"/>
              <a:ea typeface="Lexend"/>
              <a:cs typeface="Lexend"/>
              <a:sym typeface="Lexend"/>
            </a:endParaRPr>
          </a:p>
        </p:txBody>
      </p:sp>
      <p:sp>
        <p:nvSpPr>
          <p:cNvPr id="159" name="Google Shape;159;p25"/>
          <p:cNvSpPr txBox="1"/>
          <p:nvPr/>
        </p:nvSpPr>
        <p:spPr>
          <a:xfrm>
            <a:off x="307650" y="1164900"/>
            <a:ext cx="8528700" cy="28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Lexend"/>
                <a:ea typeface="Lexend"/>
                <a:cs typeface="Lexend"/>
                <a:sym typeface="Lexend"/>
              </a:rPr>
              <a:t>Some key data types and operations:</a:t>
            </a:r>
            <a:endParaRPr sz="1500">
              <a:latin typeface="Lexend"/>
              <a:ea typeface="Lexend"/>
              <a:cs typeface="Lexend"/>
              <a:sym typeface="Lexend"/>
            </a:endParaRPr>
          </a:p>
          <a:p>
            <a:pPr indent="0" lvl="0" marL="0" rtl="0" algn="l">
              <a:spcBef>
                <a:spcPts val="0"/>
              </a:spcBef>
              <a:spcAft>
                <a:spcPts val="0"/>
              </a:spcAft>
              <a:buNone/>
            </a:pPr>
            <a:r>
              <a:t/>
            </a:r>
            <a:endParaRPr sz="1500">
              <a:latin typeface="Comic Sans MS"/>
              <a:ea typeface="Comic Sans MS"/>
              <a:cs typeface="Comic Sans MS"/>
              <a:sym typeface="Comic Sans MS"/>
            </a:endParaRPr>
          </a:p>
          <a:p>
            <a:pPr indent="-323850" lvl="0" marL="457200" rtl="0" algn="l">
              <a:spcBef>
                <a:spcPts val="0"/>
              </a:spcBef>
              <a:spcAft>
                <a:spcPts val="0"/>
              </a:spcAft>
              <a:buSzPts val="1500"/>
              <a:buFont typeface="Comic Sans MS"/>
              <a:buChar char="●"/>
            </a:pPr>
            <a:r>
              <a:rPr b="1" lang="en-GB" sz="1500">
                <a:latin typeface="Courier New"/>
                <a:ea typeface="Courier New"/>
                <a:cs typeface="Courier New"/>
                <a:sym typeface="Courier New"/>
              </a:rPr>
              <a:t>__m256d</a:t>
            </a:r>
            <a:r>
              <a:rPr lang="en-GB" sz="1500">
                <a:latin typeface="Comic Sans MS"/>
                <a:ea typeface="Comic Sans MS"/>
                <a:cs typeface="Comic Sans MS"/>
                <a:sym typeface="Comic Sans MS"/>
              </a:rPr>
              <a:t> </a:t>
            </a:r>
            <a:r>
              <a:rPr lang="en-GB" sz="1500">
                <a:latin typeface="Lexend"/>
                <a:ea typeface="Lexend"/>
                <a:cs typeface="Lexend"/>
                <a:sym typeface="Lexend"/>
              </a:rPr>
              <a:t>is a data type for 256-bit AVX registers (which can hold four double values).</a:t>
            </a:r>
            <a:endParaRPr sz="1500">
              <a:latin typeface="Lexend"/>
              <a:ea typeface="Lexend"/>
              <a:cs typeface="Lexend"/>
              <a:sym typeface="Lexend"/>
            </a:endParaRPr>
          </a:p>
          <a:p>
            <a:pPr indent="-323850" lvl="0" marL="457200" rtl="0" algn="l">
              <a:spcBef>
                <a:spcPts val="0"/>
              </a:spcBef>
              <a:spcAft>
                <a:spcPts val="0"/>
              </a:spcAft>
              <a:buSzPts val="1500"/>
              <a:buFont typeface="Comic Sans MS"/>
              <a:buChar char="●"/>
            </a:pPr>
            <a:r>
              <a:rPr b="1" lang="en-GB" sz="1500">
                <a:latin typeface="Courier New"/>
                <a:ea typeface="Courier New"/>
                <a:cs typeface="Courier New"/>
                <a:sym typeface="Courier New"/>
              </a:rPr>
              <a:t>_mm256_loadu_pd</a:t>
            </a:r>
            <a:r>
              <a:rPr lang="en-GB" sz="1500">
                <a:latin typeface="Comic Sans MS"/>
                <a:ea typeface="Comic Sans MS"/>
                <a:cs typeface="Comic Sans MS"/>
                <a:sym typeface="Comic Sans MS"/>
              </a:rPr>
              <a:t> </a:t>
            </a:r>
            <a:r>
              <a:rPr lang="en-GB" sz="1500">
                <a:latin typeface="Lexend"/>
                <a:ea typeface="Lexend"/>
                <a:cs typeface="Lexend"/>
                <a:sym typeface="Lexend"/>
              </a:rPr>
              <a:t>loads data into registers.</a:t>
            </a:r>
            <a:endParaRPr sz="1500">
              <a:latin typeface="Lexend"/>
              <a:ea typeface="Lexend"/>
              <a:cs typeface="Lexend"/>
              <a:sym typeface="Lexend"/>
            </a:endParaRPr>
          </a:p>
          <a:p>
            <a:pPr indent="-323850" lvl="0" marL="457200" rtl="0" algn="l">
              <a:spcBef>
                <a:spcPts val="0"/>
              </a:spcBef>
              <a:spcAft>
                <a:spcPts val="0"/>
              </a:spcAft>
              <a:buSzPts val="1500"/>
              <a:buFont typeface="Comic Sans MS"/>
              <a:buChar char="●"/>
            </a:pPr>
            <a:r>
              <a:rPr b="1" lang="en-GB" sz="1500">
                <a:latin typeface="Courier New"/>
                <a:ea typeface="Courier New"/>
                <a:cs typeface="Courier New"/>
                <a:sym typeface="Courier New"/>
              </a:rPr>
              <a:t>_mm256_add_pd</a:t>
            </a:r>
            <a:r>
              <a:rPr lang="en-GB" sz="1500">
                <a:latin typeface="Comic Sans MS"/>
                <a:ea typeface="Comic Sans MS"/>
                <a:cs typeface="Comic Sans MS"/>
                <a:sym typeface="Comic Sans MS"/>
              </a:rPr>
              <a:t> </a:t>
            </a:r>
            <a:r>
              <a:rPr lang="en-GB" sz="1500">
                <a:latin typeface="Lexend"/>
                <a:ea typeface="Lexend"/>
                <a:cs typeface="Lexend"/>
                <a:sym typeface="Lexend"/>
              </a:rPr>
              <a:t>is used to add the elements in the two AVX registers, element-wise.</a:t>
            </a:r>
            <a:endParaRPr sz="1500">
              <a:latin typeface="Lexend"/>
              <a:ea typeface="Lexend"/>
              <a:cs typeface="Lexend"/>
              <a:sym typeface="Lexend"/>
            </a:endParaRPr>
          </a:p>
          <a:p>
            <a:pPr indent="-323850" lvl="0" marL="457200" rtl="0" algn="l">
              <a:spcBef>
                <a:spcPts val="0"/>
              </a:spcBef>
              <a:spcAft>
                <a:spcPts val="0"/>
              </a:spcAft>
              <a:buSzPts val="1500"/>
              <a:buFont typeface="Comic Sans MS"/>
              <a:buChar char="●"/>
            </a:pPr>
            <a:r>
              <a:rPr b="1" lang="en-GB" sz="1500">
                <a:latin typeface="Courier New"/>
                <a:ea typeface="Courier New"/>
                <a:cs typeface="Courier New"/>
                <a:sym typeface="Courier New"/>
              </a:rPr>
              <a:t>_mm256_mul_pd</a:t>
            </a:r>
            <a:r>
              <a:rPr lang="en-GB" sz="1500">
                <a:latin typeface="Comic Sans MS"/>
                <a:ea typeface="Comic Sans MS"/>
                <a:cs typeface="Comic Sans MS"/>
                <a:sym typeface="Comic Sans MS"/>
              </a:rPr>
              <a:t> </a:t>
            </a:r>
            <a:r>
              <a:rPr lang="en-GB" sz="1500">
                <a:latin typeface="Lexend"/>
                <a:ea typeface="Lexend"/>
                <a:cs typeface="Lexend"/>
                <a:sym typeface="Lexend"/>
              </a:rPr>
              <a:t>is used to multiply the elements in the two AVX registers, element-wise.</a:t>
            </a:r>
            <a:endParaRPr sz="1500">
              <a:latin typeface="Lexend"/>
              <a:ea typeface="Lexend"/>
              <a:cs typeface="Lexend"/>
              <a:sym typeface="Lexend"/>
            </a:endParaRPr>
          </a:p>
          <a:p>
            <a:pPr indent="-323850" lvl="0" marL="457200" rtl="0" algn="l">
              <a:spcBef>
                <a:spcPts val="0"/>
              </a:spcBef>
              <a:spcAft>
                <a:spcPts val="0"/>
              </a:spcAft>
              <a:buSzPts val="1500"/>
              <a:buFont typeface="Comic Sans MS"/>
              <a:buChar char="●"/>
            </a:pPr>
            <a:r>
              <a:rPr b="1" lang="en-GB" sz="1500">
                <a:latin typeface="Courier New"/>
                <a:ea typeface="Courier New"/>
                <a:cs typeface="Courier New"/>
                <a:sym typeface="Courier New"/>
              </a:rPr>
              <a:t>_mm256_storeu_pd</a:t>
            </a:r>
            <a:r>
              <a:rPr lang="en-GB" sz="1500">
                <a:latin typeface="Comic Sans MS"/>
                <a:ea typeface="Comic Sans MS"/>
                <a:cs typeface="Comic Sans MS"/>
                <a:sym typeface="Comic Sans MS"/>
              </a:rPr>
              <a:t> </a:t>
            </a:r>
            <a:r>
              <a:rPr lang="en-GB" sz="1500">
                <a:latin typeface="Lexend"/>
                <a:ea typeface="Lexend"/>
                <a:cs typeface="Lexend"/>
                <a:sym typeface="Lexend"/>
              </a:rPr>
              <a:t>stores the results back to a normal array.</a:t>
            </a:r>
            <a:endParaRPr sz="1500">
              <a:latin typeface="Lexend"/>
              <a:ea typeface="Lexend"/>
              <a:cs typeface="Lexend"/>
              <a:sym typeface="Lexend"/>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Time duration Table</a:t>
            </a:r>
            <a:endParaRPr>
              <a:latin typeface="Lexend"/>
              <a:ea typeface="Lexend"/>
              <a:cs typeface="Lexend"/>
              <a:sym typeface="Lexend"/>
            </a:endParaRPr>
          </a:p>
        </p:txBody>
      </p:sp>
      <p:pic>
        <p:nvPicPr>
          <p:cNvPr id="165" name="Google Shape;165;p26"/>
          <p:cNvPicPr preferRelativeResize="0"/>
          <p:nvPr/>
        </p:nvPicPr>
        <p:blipFill>
          <a:blip r:embed="rId3">
            <a:alphaModFix/>
          </a:blip>
          <a:stretch>
            <a:fillRect/>
          </a:stretch>
        </p:blipFill>
        <p:spPr>
          <a:xfrm>
            <a:off x="2131663" y="1017800"/>
            <a:ext cx="4880671" cy="38209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Time duration Plot</a:t>
            </a:r>
            <a:endParaRPr>
              <a:latin typeface="Lexend"/>
              <a:ea typeface="Lexend"/>
              <a:cs typeface="Lexend"/>
              <a:sym typeface="Lexend"/>
            </a:endParaRPr>
          </a:p>
        </p:txBody>
      </p:sp>
      <p:pic>
        <p:nvPicPr>
          <p:cNvPr id="171" name="Google Shape;171;p27"/>
          <p:cNvPicPr preferRelativeResize="0"/>
          <p:nvPr/>
        </p:nvPicPr>
        <p:blipFill>
          <a:blip r:embed="rId3">
            <a:alphaModFix/>
          </a:blip>
          <a:stretch>
            <a:fillRect/>
          </a:stretch>
        </p:blipFill>
        <p:spPr>
          <a:xfrm>
            <a:off x="1099475" y="953625"/>
            <a:ext cx="6945053" cy="39623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Speedup Table</a:t>
            </a:r>
            <a:endParaRPr>
              <a:latin typeface="Lexend"/>
              <a:ea typeface="Lexend"/>
              <a:cs typeface="Lexend"/>
              <a:sym typeface="Lexend"/>
            </a:endParaRPr>
          </a:p>
        </p:txBody>
      </p:sp>
      <p:sp>
        <p:nvSpPr>
          <p:cNvPr id="177" name="Google Shape;177;p28"/>
          <p:cNvSpPr txBox="1"/>
          <p:nvPr/>
        </p:nvSpPr>
        <p:spPr>
          <a:xfrm>
            <a:off x="310650" y="1017800"/>
            <a:ext cx="8522700" cy="2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2"/>
                </a:solidFill>
                <a:latin typeface="Lexend"/>
                <a:ea typeface="Lexend"/>
                <a:cs typeface="Lexend"/>
                <a:sym typeface="Lexend"/>
              </a:rPr>
              <a:t>Here speedup is wrt. sequential approach.</a:t>
            </a:r>
            <a:endParaRPr sz="1500">
              <a:solidFill>
                <a:schemeClr val="dk2"/>
              </a:solidFill>
              <a:latin typeface="Lexend"/>
              <a:ea typeface="Lexend"/>
              <a:cs typeface="Lexend"/>
              <a:sym typeface="Lexend"/>
            </a:endParaRPr>
          </a:p>
        </p:txBody>
      </p:sp>
      <p:pic>
        <p:nvPicPr>
          <p:cNvPr id="178" name="Google Shape;178;p28"/>
          <p:cNvPicPr preferRelativeResize="0"/>
          <p:nvPr/>
        </p:nvPicPr>
        <p:blipFill>
          <a:blip r:embed="rId3">
            <a:alphaModFix/>
          </a:blip>
          <a:stretch>
            <a:fillRect/>
          </a:stretch>
        </p:blipFill>
        <p:spPr>
          <a:xfrm>
            <a:off x="2918888" y="1437500"/>
            <a:ext cx="3306236" cy="3521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Speedup Plot</a:t>
            </a:r>
            <a:endParaRPr>
              <a:latin typeface="Lexend"/>
              <a:ea typeface="Lexend"/>
              <a:cs typeface="Lexend"/>
              <a:sym typeface="Lexend"/>
            </a:endParaRPr>
          </a:p>
        </p:txBody>
      </p:sp>
      <p:pic>
        <p:nvPicPr>
          <p:cNvPr id="184" name="Google Shape;184;p29"/>
          <p:cNvPicPr preferRelativeResize="0"/>
          <p:nvPr/>
        </p:nvPicPr>
        <p:blipFill>
          <a:blip r:embed="rId3">
            <a:alphaModFix/>
          </a:blip>
          <a:stretch>
            <a:fillRect/>
          </a:stretch>
        </p:blipFill>
        <p:spPr>
          <a:xfrm>
            <a:off x="152400" y="1017800"/>
            <a:ext cx="8839200" cy="376843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latin typeface="Lexend"/>
                <a:ea typeface="Lexend"/>
                <a:cs typeface="Lexend"/>
                <a:sym typeface="Lexend"/>
              </a:rPr>
              <a:t>Heat Conduction Visualization in 2D</a:t>
            </a:r>
            <a:endParaRPr>
              <a:latin typeface="Lexend"/>
              <a:ea typeface="Lexend"/>
              <a:cs typeface="Lexend"/>
              <a:sym typeface="Lexend"/>
            </a:endParaRPr>
          </a:p>
        </p:txBody>
      </p:sp>
      <p:pic>
        <p:nvPicPr>
          <p:cNvPr id="190" name="Google Shape;190;p30"/>
          <p:cNvPicPr preferRelativeResize="0"/>
          <p:nvPr/>
        </p:nvPicPr>
        <p:blipFill>
          <a:blip r:embed="rId3">
            <a:alphaModFix/>
          </a:blip>
          <a:stretch>
            <a:fillRect/>
          </a:stretch>
        </p:blipFill>
        <p:spPr>
          <a:xfrm>
            <a:off x="2024725" y="1017800"/>
            <a:ext cx="5094533" cy="3820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